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544068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 and why it changed sequence modeling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1409700"/>
            <a:ext cx="54406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the Transformer: an attention-only architecture enabling full parallelism and fast training.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0" y="762000"/>
            <a:ext cx="5181600" cy="4038600"/>
          </a:xfrm>
          <a:prstGeom prst="roundRect">
            <a:avLst>
              <a:gd name="adj" fmla="val 2830"/>
            </a:avLst>
          </a:prstGeom>
          <a:solidFill>
            <a:srgbClr val="F5F9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srv/memslides/data/web/users/user_31/sessions/20260524/221241_use_the_attached_paper_attention_is_all_you_need_ada6dc61/converted/attention/images/f7896a22ff43c1f81531754bb9c3f1e738ea4cf8f64eb0a2e62ca12ec9f973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0324" y="876300"/>
            <a:ext cx="2562553" cy="381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1428750"/>
            <a:ext cx="5772150" cy="1188690"/>
          </a:xfrm>
          <a:prstGeom prst="roundRect">
            <a:avLst>
              <a:gd name="adj" fmla="val 9616"/>
            </a:avLst>
          </a:prstGeom>
          <a:solidFill>
            <a:srgbClr val="F5F9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38175" y="1581150"/>
            <a:ext cx="0" cy="883890"/>
          </a:xfrm>
          <a:prstGeom prst="line">
            <a:avLst/>
          </a:prstGeom>
          <a:noFill/>
          <a:ln w="5715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7250" y="1581150"/>
            <a:ext cx="54406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target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7250" y="1912590"/>
            <a:ext cx="54406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attention-only Transformers replace recurrence/convolution and deliver faster, strong translation.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9600" y="2667000"/>
            <a:ext cx="5715000" cy="2500313"/>
          </a:xfrm>
          <a:prstGeom prst="roundRect">
            <a:avLst>
              <a:gd name="adj" fmla="val 4571"/>
            </a:avLst>
          </a:prstGeom>
          <a:solidFill>
            <a:srgbClr val="EEF6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00100" y="2819400"/>
            <a:ext cx="544068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3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00100" y="3157538"/>
            <a:ext cx="533400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2138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Self-attention: tokens look at other tokens</a:t>
            </a:r>
            <a:endParaRPr lang="en-US" sz="1425" dirty="0"/>
          </a:p>
          <a:p>
            <a:pPr algn="l" marL="190500" indent="-190500">
              <a:lnSpc>
                <a:spcPts val="2138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Attention: many views in parallel</a:t>
            </a:r>
            <a:endParaRPr lang="en-US" sz="1425" dirty="0"/>
          </a:p>
          <a:p>
            <a:pPr algn="l" marL="190500" indent="-190500">
              <a:lnSpc>
                <a:spcPts val="2138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encoder–decoder stacks, masking, positions</a:t>
            </a:r>
            <a:endParaRPr lang="en-US" sz="1425" dirty="0"/>
          </a:p>
          <a:p>
            <a:pPr algn="l" marL="190500" indent="-190500">
              <a:lnSpc>
                <a:spcPts val="2138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 and translation quality</a:t>
            </a:r>
            <a:endParaRPr lang="en-US" sz="1425" dirty="0"/>
          </a:p>
          <a:p>
            <a:pPr algn="l" marL="190500" indent="-190500">
              <a:lnSpc>
                <a:spcPts val="2138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heads learn</a:t>
            </a:r>
            <a:endParaRPr lang="en-US" sz="1425" dirty="0"/>
          </a:p>
          <a:p>
            <a:pPr algn="l" marL="190500" indent="-190500">
              <a:lnSpc>
                <a:spcPts val="2138"/>
              </a:lnSpc>
              <a:spcAft>
                <a:spcPts val="300"/>
              </a:spcAft>
              <a:buSzPct val="100000"/>
              <a:buChar char="•"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mattered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609600" y="4933950"/>
            <a:ext cx="6496050" cy="781050"/>
          </a:xfrm>
          <a:prstGeom prst="roundRect">
            <a:avLst>
              <a:gd name="adj" fmla="val 14634"/>
            </a:avLst>
          </a:prstGeom>
          <a:solidFill>
            <a:srgbClr val="E6FA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38175" y="5048250"/>
            <a:ext cx="0" cy="552450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200" y="5048250"/>
            <a:ext cx="62179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Attention-only architectures can match or exceed state-of-the-art translation with far less training cost.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86500" y="5560814"/>
            <a:ext cx="5295900" cy="763786"/>
          </a:xfrm>
          <a:prstGeom prst="roundRect">
            <a:avLst>
              <a:gd name="adj" fmla="val 14965"/>
            </a:avLst>
          </a:prstGeom>
          <a:solidFill>
            <a:srgbClr val="F5F9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457950" y="5694164"/>
            <a:ext cx="505206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Compared to RNN/CNN sequence models, what two components does the Transformer remove?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6800850" cy="85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3"/>
              </a:lnSpc>
              <a:spcAft>
                <a:spcPts val="450"/>
              </a:spcAft>
              <a:buNone/>
            </a:pPr>
            <a:r>
              <a:rPr lang="en-US" sz="28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Self-Attention: how tokens decide what matters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9600" y="1330226"/>
            <a:ext cx="6800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context mixing without recurrence or convolution.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1238250"/>
            <a:ext cx="5905500" cy="833884"/>
          </a:xfrm>
          <a:prstGeom prst="roundRect">
            <a:avLst>
              <a:gd name="adj" fmla="val 13707"/>
            </a:avLst>
          </a:prstGeom>
          <a:solidFill>
            <a:srgbClr val="F5F9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8175" y="1371600"/>
            <a:ext cx="0" cy="567184"/>
          </a:xfrm>
          <a:prstGeom prst="line">
            <a:avLst/>
          </a:prstGeom>
          <a:noFill/>
          <a:ln w="571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371600"/>
            <a:ext cx="56155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Build Q, K, V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38200" y="1676400"/>
            <a:ext cx="5615559" cy="26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projects to </a:t>
            </a:r>
            <a:pPr algn="l" indent="0" marL="0">
              <a:lnSpc>
                <a:spcPts val="2066"/>
              </a:lnSpc>
              <a:buNone/>
            </a:pPr>
            <a:r>
              <a:rPr lang="en-US" sz="14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</a:t>
            </a:r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(Q), </a:t>
            </a:r>
            <a:pPr algn="l" indent="0" marL="0">
              <a:lnSpc>
                <a:spcPts val="2066"/>
              </a:lnSpc>
              <a:buNone/>
            </a:pPr>
            <a:r>
              <a:rPr lang="en-US" sz="14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(K), and </a:t>
            </a:r>
            <a:pPr algn="l" indent="0" marL="0">
              <a:lnSpc>
                <a:spcPts val="2066"/>
              </a:lnSpc>
              <a:buNone/>
            </a:pPr>
            <a:r>
              <a:rPr lang="en-US" sz="14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(V).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609600" y="2186434"/>
            <a:ext cx="5905500" cy="1096268"/>
          </a:xfrm>
          <a:prstGeom prst="roundRect">
            <a:avLst>
              <a:gd name="adj" fmla="val 10426"/>
            </a:avLst>
          </a:prstGeom>
          <a:solidFill>
            <a:srgbClr val="F5F9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8175" y="2319784"/>
            <a:ext cx="0" cy="829568"/>
          </a:xfrm>
          <a:prstGeom prst="line">
            <a:avLst/>
          </a:prstGeom>
          <a:noFill/>
          <a:ln w="571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2319784"/>
            <a:ext cx="56155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Score &amp; normalize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38200" y="2624584"/>
            <a:ext cx="5615559" cy="52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scores </a:t>
            </a:r>
            <a:pPr algn="l" indent="0" marL="0">
              <a:lnSpc>
                <a:spcPts val="2066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QK^T / sqrt(d_k)</a:t>
            </a:r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2066"/>
              </a:lnSpc>
              <a:buNone/>
            </a:pPr>
            <a:r>
              <a:rPr lang="en-US" sz="14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weights across tokens.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09600" y="3397002"/>
            <a:ext cx="5905500" cy="1096268"/>
          </a:xfrm>
          <a:prstGeom prst="roundRect">
            <a:avLst>
              <a:gd name="adj" fmla="val 10426"/>
            </a:avLst>
          </a:prstGeom>
          <a:solidFill>
            <a:srgbClr val="F5F9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8175" y="3530352"/>
            <a:ext cx="0" cy="829568"/>
          </a:xfrm>
          <a:prstGeom prst="line">
            <a:avLst/>
          </a:prstGeom>
          <a:noFill/>
          <a:ln w="571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200" y="3530352"/>
            <a:ext cx="56155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Weighted mix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8200" y="3835152"/>
            <a:ext cx="5615559" cy="52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becomes the weighted sum of V using those attention weights.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400800" y="1143000"/>
            <a:ext cx="5181600" cy="4229100"/>
          </a:xfrm>
          <a:prstGeom prst="roundRect">
            <a:avLst>
              <a:gd name="adj" fmla="val 2703"/>
            </a:avLst>
          </a:prstGeom>
          <a:solidFill>
            <a:srgbClr val="EEF6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/srv/memslides/data/web/users/user_31/sessions/20260524/221241_use_the_attached_paper_attention_is_all_you_need_ada6dc61/converted/attention/images/57e3ad00e7c57fe0dc66b468b013f2fcf447ef78a7d2ee01be8b434fe6ef06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1973354"/>
            <a:ext cx="4953000" cy="25683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9600" y="4836914"/>
            <a:ext cx="6267450" cy="687586"/>
          </a:xfrm>
          <a:prstGeom prst="roundRect">
            <a:avLst>
              <a:gd name="adj" fmla="val 16623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638175" y="4932164"/>
            <a:ext cx="0" cy="497086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9150" y="4932164"/>
            <a:ext cx="602361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attention (Vaswani et al., 2017): scaling by 1/sqrt(d_k) stabilizes training at larger d_k.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286500" y="5560814"/>
            <a:ext cx="5295900" cy="763786"/>
          </a:xfrm>
          <a:prstGeom prst="roundRect">
            <a:avLst>
              <a:gd name="adj" fmla="val 14965"/>
            </a:avLst>
          </a:prstGeom>
          <a:solidFill>
            <a:srgbClr val="F5F9FF"/>
          </a:solidFill>
          <a:ln/>
          <a:effectLst>
            <a:outerShdw sx="100000" sy="100000" kx="0" ky="0" algn="bl" rotWithShape="0" blurRad="1143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457950" y="5694164"/>
            <a:ext cx="505206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What produces the attention weights for each token in self-attention?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1150315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 — Worked Example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800100"/>
            <a:ext cx="11503152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walk one token through multi-head attention using the base setting (h = 8 heads, d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d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64).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238250"/>
            <a:ext cx="5638800" cy="3733800"/>
          </a:xfrm>
          <a:prstGeom prst="roundRect">
            <a:avLst>
              <a:gd name="adj" fmla="val 3061"/>
            </a:avLst>
          </a:prstGeom>
          <a:solidFill>
            <a:srgbClr val="F7FBFF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srv/memslides/data/web/users/user_31/sessions/20260524/221241_use_the_attached_paper_attention_is_all_you_need_ada6dc61/converted/attention/images/da0cb167628b8c102175cfb8905c35ca892193b2792f27c2ecc67f25752338a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48862"/>
            <a:ext cx="5334000" cy="31125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0" y="1238250"/>
            <a:ext cx="5638800" cy="1504950"/>
          </a:xfrm>
          <a:prstGeom prst="roundRect">
            <a:avLst>
              <a:gd name="adj" fmla="val 7595"/>
            </a:avLst>
          </a:prstGeom>
          <a:solidFill>
            <a:srgbClr val="F7FBFF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267450" y="14097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50347" y="1420862"/>
            <a:ext cx="102772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6648450" y="1390650"/>
            <a:ext cx="50131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Q, K, V into heads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648450" y="1695450"/>
            <a:ext cx="5013198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Q, K, V into h parallel subspaces via learned projections.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6819900" y="2241054"/>
            <a:ext cx="4743450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h = 8 heads with d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d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64.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head gets its own W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3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3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3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96000" y="2895600"/>
            <a:ext cx="5638800" cy="1445716"/>
          </a:xfrm>
          <a:prstGeom prst="roundRect">
            <a:avLst>
              <a:gd name="adj" fmla="val 7906"/>
            </a:avLst>
          </a:prstGeom>
          <a:solidFill>
            <a:srgbClr val="F7FBFF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67450" y="3067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50347" y="3078212"/>
            <a:ext cx="102772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6648450" y="3048000"/>
            <a:ext cx="4473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per head (parallel)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648450" y="3352800"/>
            <a:ext cx="4473988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head i, compute scaled dot‑product attention.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6819900" y="3654177"/>
            <a:ext cx="4214813" cy="534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(Q, K, V) = softmax(Q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3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√64) V</a:t>
            </a:r>
            <a:pPr algn="l" indent="0" marL="0">
              <a:lnSpc>
                <a:spcPts val="1823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token‑to‑token interactions computed in parallel.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096000" y="4493716"/>
            <a:ext cx="5638800" cy="1415058"/>
          </a:xfrm>
          <a:prstGeom prst="roundRect">
            <a:avLst>
              <a:gd name="adj" fmla="val 8077"/>
            </a:avLst>
          </a:prstGeom>
          <a:solidFill>
            <a:srgbClr val="F7FBFF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267450" y="466516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350347" y="4676329"/>
            <a:ext cx="102772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25" dirty="0"/>
          </a:p>
        </p:txBody>
      </p:sp>
      <p:sp>
        <p:nvSpPr>
          <p:cNvPr id="21" name="Text 18"/>
          <p:cNvSpPr/>
          <p:nvPr/>
        </p:nvSpPr>
        <p:spPr>
          <a:xfrm>
            <a:off x="6648450" y="4646116"/>
            <a:ext cx="49224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and mix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648450" y="4950916"/>
            <a:ext cx="4922419" cy="285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the h head outputs and apply a final linear W</a:t>
            </a:r>
            <a:pPr algn="l" indent="0" marL="0">
              <a:lnSpc>
                <a:spcPts val="1924"/>
              </a:lnSpc>
              <a:buNone/>
            </a:pPr>
            <a:r>
              <a:rPr lang="en-US" sz="1187" baseline="3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6819900" y="5293519"/>
            <a:ext cx="4654451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heads capture different relations concurrently.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feeds the position‑wise feed‑forward network.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57200" y="5334000"/>
            <a:ext cx="11677650" cy="485775"/>
          </a:xfrm>
          <a:prstGeom prst="roundRect">
            <a:avLst>
              <a:gd name="adj" fmla="val 19608"/>
            </a:avLst>
          </a:prstGeom>
          <a:solidFill>
            <a:srgbClr val="E6FAFD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85775" y="5467350"/>
            <a:ext cx="0" cy="219075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5467350"/>
            <a:ext cx="115031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heads let the model look at different relations at once; concatenation preserves them for the next layer.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57200" y="5905500"/>
            <a:ext cx="11277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457200" y="6067425"/>
            <a:ext cx="115031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pPr algn="l"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use multiple attention heads instead of a single head?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1150315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Definitions — Transformer Basics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57200" y="800100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the key terms before we go deeper: self‑attention, multi‑head, positional encoding, masking, and normalization.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620000" cy="453390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71450" dist="57150" dir="5400000">
              <a:srgbClr val="020617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314450"/>
            <a:ext cx="1451967" cy="285750"/>
          </a:xfrm>
          <a:prstGeom prst="roundRect">
            <a:avLst>
              <a:gd name="adj" fmla="val 3330000"/>
            </a:avLst>
          </a:prstGeom>
          <a:solidFill>
            <a:srgbClr val="2563EB"/>
          </a:solidFill>
          <a:ln/>
        </p:spPr>
        <p:txBody>
          <a:bodyPr wrap="square" lIns="95250" tIns="57150" rIns="95250" bIns="5715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Callout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7700" y="1695450"/>
            <a:ext cx="7383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core terms mean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7700" y="2038350"/>
            <a:ext cx="7239000" cy="501551"/>
          </a:xfrm>
          <a:prstGeom prst="roundRect">
            <a:avLst>
              <a:gd name="adj" fmla="val 18991"/>
            </a:avLst>
          </a:prstGeom>
          <a:solidFill>
            <a:srgbClr val="E9F9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71513" y="2133600"/>
            <a:ext cx="0" cy="311051"/>
          </a:xfrm>
          <a:prstGeom prst="line">
            <a:avLst/>
          </a:prstGeom>
          <a:noFill/>
          <a:ln w="47625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625" y="2133600"/>
            <a:ext cx="7102031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dot‑product attention: </a:t>
            </a:r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Attention(Q, K, V) = softmax(QK</a:t>
            </a:r>
            <a:pPr algn="l" indent="0" marL="0">
              <a:buNone/>
            </a:pPr>
            <a:r>
              <a:rPr lang="en-US" sz="1250" b="1" baseline="3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√d</a:t>
            </a:r>
            <a:pPr algn="l" indent="0" marL="0">
              <a:buNone/>
            </a:pPr>
            <a:r>
              <a:rPr lang="en-US" sz="1250" b="1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9150" y="2673251"/>
            <a:ext cx="70675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Self‑attention</a:t>
            </a:r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tokens attend to other tokens to decide what matters; all pairwise interactions computed in parallel.</a:t>
            </a:r>
            <a:endParaRPr lang="en-US" sz="13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Multi‑Head Attention</a:t>
            </a:r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project Q/K/V into multiple subspaces, attend in parallel, then concatenate.</a:t>
            </a:r>
            <a:endParaRPr lang="en-US" sz="13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encoding</a:t>
            </a:r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fixed sinusoidal (learned performs similarly) added to embeddings to convey token order.</a:t>
            </a:r>
            <a:endParaRPr lang="en-US" sz="13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+ LayerNorm</a:t>
            </a:r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residual connections and layer normalization wrap each sub‑layer; dropout used throughout.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7700" y="4616351"/>
            <a:ext cx="7383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self‑attention uses a mask so positions cannot attend to the future.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34300" y="1143000"/>
            <a:ext cx="4000500" cy="2409825"/>
          </a:xfrm>
          <a:prstGeom prst="roundRect">
            <a:avLst>
              <a:gd name="adj" fmla="val 6324"/>
            </a:avLst>
          </a:prstGeom>
          <a:solidFill>
            <a:srgbClr val="ECF2FF"/>
          </a:solidFill>
          <a:ln w="19050">
            <a:solidFill>
              <a:srgbClr val="D6E4FF"/>
            </a:solidFill>
          </a:ln>
          <a:effectLst>
            <a:outerShdw sx="100000" sy="100000" kx="0" ky="0" algn="bl" rotWithShape="0" blurRad="171450" dist="57150" dir="5400000">
              <a:srgbClr val="020617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24800" y="1314450"/>
            <a:ext cx="817364" cy="285750"/>
          </a:xfrm>
          <a:prstGeom prst="roundRect">
            <a:avLst>
              <a:gd name="adj" fmla="val 3330000"/>
            </a:avLst>
          </a:prstGeom>
          <a:solidFill>
            <a:srgbClr val="F59E0B"/>
          </a:solidFill>
          <a:ln/>
        </p:spPr>
        <p:txBody>
          <a:bodyPr wrap="square" lIns="95250" tIns="57150" rIns="95250" bIns="5715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24800" y="1695450"/>
            <a:ext cx="36918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+ position replaces recurrence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24800" y="2305050"/>
            <a:ext cx="369189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stacking simple attention blocks with positional signals and masking, the Transformer builds an efficient, fully parallel sequence model—no recurrence or convolution needed.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5895975"/>
            <a:ext cx="11277600" cy="390525"/>
          </a:xfrm>
          <a:prstGeom prst="roundRect">
            <a:avLst>
              <a:gd name="adj" fmla="val 2926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71450" dist="57150" dir="5400000">
              <a:srgbClr val="020617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5991225"/>
            <a:ext cx="11269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role does </a:t>
            </a:r>
            <a:pPr algn="l" indent="0" marL="0">
              <a:buNone/>
            </a:pPr>
            <a:r>
              <a:rPr lang="en-US" sz="13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encoding</a:t>
            </a:r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play in the Transformer?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1150315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Mechanism — Encoder–Decoder Walkthrough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57200" y="800100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tokens to outputs in five steps (process view).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524000"/>
            <a:ext cx="1977182" cy="1619250"/>
          </a:xfrm>
          <a:prstGeom prst="roundRect">
            <a:avLst>
              <a:gd name="adj" fmla="val 7059"/>
            </a:avLst>
          </a:prstGeom>
          <a:solidFill>
            <a:srgbClr val="F7FBFF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1409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7526" y="1446312"/>
            <a:ext cx="97307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0550" y="1714500"/>
            <a:ext cx="17446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+ Positions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0550" y="1990725"/>
            <a:ext cx="174469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embeddings are summed with sinusoidal positional encodings.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2000" y="2973586"/>
            <a:ext cx="1539032" cy="668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the model information about order.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10582" y="2314575"/>
            <a:ext cx="195560" cy="38100"/>
          </a:xfrm>
          <a:prstGeom prst="roundRect">
            <a:avLst>
              <a:gd name="adj" fmla="val 50000"/>
            </a:avLst>
          </a:prstGeom>
          <a:solidFill>
            <a:srgbClr val="0EA5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82342" y="1524000"/>
            <a:ext cx="1977182" cy="1619250"/>
          </a:xfrm>
          <a:prstGeom prst="roundRect">
            <a:avLst>
              <a:gd name="adj" fmla="val 7059"/>
            </a:avLst>
          </a:prstGeom>
          <a:solidFill>
            <a:srgbClr val="F7FBFF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68042" y="1409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72668" y="1446312"/>
            <a:ext cx="97307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15692" y="1714500"/>
            <a:ext cx="174469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Stack (×N)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15692" y="2209800"/>
            <a:ext cx="1744691" cy="115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layer: self‑attention → feed‑forward, with residuals and layer norm.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87142" y="3424089"/>
            <a:ext cx="1539032" cy="89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Self‑attention lets tokens look at others in the source.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35723" y="2314575"/>
            <a:ext cx="195411" cy="38100"/>
          </a:xfrm>
          <a:prstGeom prst="roundRect">
            <a:avLst>
              <a:gd name="adj" fmla="val 50000"/>
            </a:avLst>
          </a:prstGeom>
          <a:solidFill>
            <a:srgbClr val="0EA5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07335" y="1524000"/>
            <a:ext cx="1977182" cy="1619250"/>
          </a:xfrm>
          <a:prstGeom prst="roundRect">
            <a:avLst>
              <a:gd name="adj" fmla="val 7059"/>
            </a:avLst>
          </a:prstGeom>
          <a:solidFill>
            <a:srgbClr val="F7FBFF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3035" y="1409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97661" y="1446312"/>
            <a:ext cx="97307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40685" y="1714500"/>
            <a:ext cx="17446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Shifted Targets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40685" y="1990725"/>
            <a:ext cx="174469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input is the shifted target sequence (training) plus positions.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12135" y="2973586"/>
            <a:ext cx="1539032" cy="89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self‑attention prevents peeking ahead.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60716" y="2314575"/>
            <a:ext cx="195560" cy="38100"/>
          </a:xfrm>
          <a:prstGeom prst="roundRect">
            <a:avLst>
              <a:gd name="adj" fmla="val 50000"/>
            </a:avLst>
          </a:prstGeom>
          <a:solidFill>
            <a:srgbClr val="0EA5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32477" y="1524000"/>
            <a:ext cx="1977182" cy="1619250"/>
          </a:xfrm>
          <a:prstGeom prst="roundRect">
            <a:avLst>
              <a:gd name="adj" fmla="val 7059"/>
            </a:avLst>
          </a:prstGeom>
          <a:solidFill>
            <a:srgbClr val="F7FBFF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18177" y="1409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22803" y="1446312"/>
            <a:ext cx="97307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565827" y="1714500"/>
            <a:ext cx="17446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Layer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65827" y="1990725"/>
            <a:ext cx="174469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self‑attention → encoder‑decoder attention → feed‑forward.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737277" y="2973586"/>
            <a:ext cx="1539032" cy="668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Cross‑attention reads from encoder outputs.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485858" y="2314575"/>
            <a:ext cx="195560" cy="38100"/>
          </a:xfrm>
          <a:prstGeom prst="roundRect">
            <a:avLst>
              <a:gd name="adj" fmla="val 50000"/>
            </a:avLst>
          </a:prstGeom>
          <a:solidFill>
            <a:srgbClr val="0EA5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757618" y="1524000"/>
            <a:ext cx="1977182" cy="1619250"/>
          </a:xfrm>
          <a:prstGeom prst="roundRect">
            <a:avLst>
              <a:gd name="adj" fmla="val 7059"/>
            </a:avLst>
          </a:prstGeom>
          <a:solidFill>
            <a:srgbClr val="F7FBFF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643318" y="1409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747945" y="1446312"/>
            <a:ext cx="97307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890968" y="1714500"/>
            <a:ext cx="17446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Token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890968" y="1990725"/>
            <a:ext cx="1744691" cy="69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layer + softmax produce next‑token distribution.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062418" y="2742158"/>
            <a:ext cx="1539032" cy="89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Greedy/beam search at inference; teacher forcing during training.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57200" y="3333750"/>
            <a:ext cx="75819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8650" y="3486150"/>
            <a:ext cx="73837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components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00100" y="3781425"/>
            <a:ext cx="7067550" cy="69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Multi‑Head Attention: parallel heads capture diverse relations; concatenated and projected.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Position‑wise FFN: applied identically at each position.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 + LayerNorm around each sublayer.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001000" y="3333750"/>
            <a:ext cx="4095750" cy="1104900"/>
          </a:xfrm>
          <a:prstGeom prst="roundRect">
            <a:avLst>
              <a:gd name="adj" fmla="val 10345"/>
            </a:avLst>
          </a:prstGeom>
          <a:solidFill>
            <a:srgbClr val="E6FAFD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8029575" y="3448050"/>
            <a:ext cx="0" cy="876300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10550" y="3448050"/>
            <a:ext cx="380847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encoder builds context with self‑attention; the decoder generates step‑by‑step, attending to both prior outputs and the encoded source.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57200" y="5905500"/>
            <a:ext cx="11277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457200" y="6067425"/>
            <a:ext cx="115031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pPr algn="l"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must decoder self‑attention be masked during training and inference?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1150315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 &amp; Scope — Transformer Attention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57200" y="800100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common confusions and surface limits noted or implied by the paper.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333500"/>
            <a:ext cx="5524500" cy="400050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8175" y="1495425"/>
            <a:ext cx="52658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confusions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38175" y="1838325"/>
            <a:ext cx="516255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66750" y="1933575"/>
            <a:ext cx="0" cy="400050"/>
          </a:xfrm>
          <a:prstGeom prst="line">
            <a:avLst/>
          </a:prstGeom>
          <a:noFill/>
          <a:ln w="571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625" y="1933575"/>
            <a:ext cx="49743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recurrence ≠ no order.</a:t>
            </a:r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Order is injected via positional encodings (sinusoidal) added to embeddings.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9625" y="2524125"/>
            <a:ext cx="4991100" cy="1734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23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"Heads = separate models"?</a:t>
            </a:r>
            <a:pPr algn="l" indent="0" marL="0">
              <a:lnSpc>
                <a:spcPts val="1823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— heads are parallel projections whose outputs are concatenated and re‑projected.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"Attention always slower"?</a:t>
            </a:r>
            <a:pPr algn="l" indent="0" marL="0">
              <a:lnSpc>
                <a:spcPts val="1823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Self‑attention scales well on hardware via parallelism, though cost grows with sequence length.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convolution means weaker local patterns"?</a:t>
            </a:r>
            <a:pPr algn="l" indent="0" marL="0">
              <a:lnSpc>
                <a:spcPts val="1823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heads can still focus locally when useful.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0300" y="1333500"/>
            <a:ext cx="5524500" cy="400050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91275" y="1495425"/>
            <a:ext cx="52658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&amp; scope (per paper)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391275" y="1838325"/>
            <a:ext cx="52658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keep in mind when sequences grow or contexts change.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62725" y="2152650"/>
            <a:ext cx="4991100" cy="2485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23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cost in length:</a:t>
            </a:r>
            <a:pPr algn="l" indent="0" marL="0">
              <a:lnSpc>
                <a:spcPts val="1823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self‑attention is O(n²) in n; long sequences increase memory/compute.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Local/restricted attention:</a:t>
            </a:r>
            <a:pPr algn="l" indent="0" marL="0">
              <a:lnSpc>
                <a:spcPts val="1823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authors note attention can be limited to neighborhoods for tasks with local structure to reduce cost.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scope:</a:t>
            </a:r>
            <a:pPr algn="l" indent="0" marL="0">
              <a:lnSpc>
                <a:spcPts val="1823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Evidence is from machine translation (WMT EN–DE/EN–FR); other domains are outside this paper’s evaluation.</a:t>
            </a:r>
            <a:endParaRPr lang="en-US" sz="1350" dirty="0"/>
          </a:p>
          <a:p>
            <a:pPr algn="l" marL="342900" indent="-342900">
              <a:lnSpc>
                <a:spcPts val="1823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regimen matters:</a:t>
            </a:r>
            <a:pPr algn="l" indent="0" marL="0">
              <a:lnSpc>
                <a:spcPts val="1823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Stability/performance rely on large batches, learning‑rate warmup, and label smoothing as described.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5524500"/>
            <a:ext cx="11639550" cy="647700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/>
          <a:effectLst>
            <a:outerShdw sx="100000" sy="100000" kx="0" ky="0" algn="bl" rotWithShape="0" blurRad="7620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85775" y="5638800"/>
            <a:ext cx="0" cy="419100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50" y="5638800"/>
            <a:ext cx="1150315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pPr algn="l" indent="0" marL="0">
              <a:buNone/>
            </a:pPr>
            <a:r>
              <a:rPr lang="en-US" sz="14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Self‑attention enables parallel learning but has O(n²) time/memory with sequence length; positional encodings carry order, and careful training/setup are part of the recipe reported.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457200" y="5905500"/>
            <a:ext cx="11277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0" y="6067425"/>
            <a:ext cx="115031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pPr algn="l"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what scenario does the cost of full self‑attention become a bottleneck, and how might the paper suggest addressing it?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11503152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&amp; Multi-Head Attention — Concept Build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2647950" cy="2769840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57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1484" y="132397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1295400"/>
            <a:ext cx="1923669" cy="537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Scores: Q · Kᵀ / √d</a:t>
            </a:r>
            <a:pPr algn="l" indent="0" marL="0">
              <a:spcAft>
                <a:spcPts val="600"/>
              </a:spcAft>
              <a:buNone/>
            </a:pPr>
            <a:r>
              <a:rPr lang="en-US" sz="1375" b="1" baseline="-40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1908721"/>
            <a:ext cx="1923669" cy="1370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how much each query 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aligns with keys 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scaled by √d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125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keep magnitudes stable.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962745" y="2157264"/>
            <a:ext cx="271016" cy="297061"/>
          </a:xfrm>
          <a:prstGeom prst="roundRect">
            <a:avLst>
              <a:gd name="adj" fmla="val 28116"/>
            </a:avLst>
          </a:prstGeom>
          <a:solidFill>
            <a:srgbClr val="E2E8F0"/>
          </a:solidFill>
          <a:ln/>
        </p:spPr>
        <p:txBody>
          <a:bodyPr wrap="square" lIns="76200" tIns="38100" rIns="76200" bIns="3810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19573" y="2454325"/>
            <a:ext cx="254050" cy="297061"/>
          </a:xfrm>
          <a:prstGeom prst="roundRect">
            <a:avLst>
              <a:gd name="adj" fmla="val 29994"/>
            </a:avLst>
          </a:prstGeom>
          <a:solidFill>
            <a:srgbClr val="E2E8F0"/>
          </a:solidFill>
          <a:ln/>
        </p:spPr>
        <p:txBody>
          <a:bodyPr wrap="square" lIns="76200" tIns="38100" rIns="76200" bIns="3810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3355628"/>
            <a:ext cx="1923669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QKᵀ / √d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6800" y="3355628"/>
            <a:ext cx="1072902" cy="328613"/>
          </a:xfrm>
          <a:prstGeom prst="roundRect">
            <a:avLst>
              <a:gd name="adj" fmla="val 23188"/>
            </a:avLst>
          </a:prstGeom>
          <a:solidFill>
            <a:srgbClr val="E2E8F0"/>
          </a:solidFill>
          <a:ln/>
        </p:spPr>
        <p:txBody>
          <a:bodyPr wrap="square" lIns="76200" tIns="38100" rIns="76200" bIns="3810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QKᵀ / √d</a:t>
            </a:r>
            <a:pPr algn="l" indent="0" marL="0">
              <a:lnSpc>
                <a:spcPts val="1740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3750" y="1143000"/>
            <a:ext cx="2647950" cy="2769840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48050" y="1257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58034" y="132397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43350" y="1295400"/>
            <a:ext cx="192366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via softmax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943350" y="1866900"/>
            <a:ext cx="1923669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scores into attention weights that sum to 1 across positions.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43350" y="2937272"/>
            <a:ext cx="192366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softmax(S)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43350" y="2937272"/>
            <a:ext cx="1156097" cy="297061"/>
          </a:xfrm>
          <a:prstGeom prst="roundRect">
            <a:avLst>
              <a:gd name="adj" fmla="val 25651"/>
            </a:avLst>
          </a:prstGeom>
          <a:solidFill>
            <a:srgbClr val="E2E8F0"/>
          </a:solidFill>
          <a:ln/>
        </p:spPr>
        <p:txBody>
          <a:bodyPr wrap="square" lIns="76200" tIns="38100" rIns="76200" bIns="3810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softmax(S)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0300" y="1143000"/>
            <a:ext cx="2647950" cy="2769840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24600" y="1257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34584" y="132397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9900" y="1295400"/>
            <a:ext cx="192366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weighted sum of V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819900" y="1866900"/>
            <a:ext cx="1923669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weights to gather relevant information from values.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19900" y="2688729"/>
            <a:ext cx="192366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= A · V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19900" y="2688729"/>
            <a:ext cx="766614" cy="297061"/>
          </a:xfrm>
          <a:prstGeom prst="roundRect">
            <a:avLst>
              <a:gd name="adj" fmla="val 25651"/>
            </a:avLst>
          </a:prstGeom>
          <a:solidFill>
            <a:srgbClr val="E2E8F0"/>
          </a:solidFill>
          <a:ln/>
        </p:spPr>
        <p:txBody>
          <a:bodyPr wrap="square" lIns="76200" tIns="38100" rIns="76200" bIns="3810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= A · 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86850" y="1143000"/>
            <a:ext cx="2647950" cy="2769840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201150" y="1257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311134" y="132397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6450" y="1295400"/>
            <a:ext cx="192366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Multi-head: parallel views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696450" y="1866900"/>
            <a:ext cx="1923669" cy="1242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several heads in parallel, then concatenate and project, enabling attention to different aspects.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96450" y="3185815"/>
            <a:ext cx="1923669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Concat(head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1..h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)W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96450" y="3185815"/>
            <a:ext cx="1530400" cy="328613"/>
          </a:xfrm>
          <a:prstGeom prst="roundRect">
            <a:avLst>
              <a:gd name="adj" fmla="val 23188"/>
            </a:avLst>
          </a:prstGeom>
          <a:solidFill>
            <a:srgbClr val="E2E8F0"/>
          </a:solidFill>
          <a:ln/>
        </p:spPr>
        <p:txBody>
          <a:bodyPr wrap="square" lIns="76200" tIns="38100" rIns="76200" bIns="3810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Concat(head</a:t>
            </a:r>
            <a:pPr algn="l" indent="0" marL="0">
              <a:lnSpc>
                <a:spcPts val="1740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1..h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)W</a:t>
            </a:r>
            <a:pPr algn="l" indent="0" marL="0">
              <a:lnSpc>
                <a:spcPts val="1740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143250"/>
            <a:ext cx="11277600" cy="1592312"/>
          </a:xfrm>
          <a:prstGeom prst="roundRect">
            <a:avLst>
              <a:gd name="adj" fmla="val 717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9600" y="3295650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source anchors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09600" y="3619500"/>
            <a:ext cx="11192256" cy="335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pPr algn="l" indent="0" marL="0">
              <a:lnSpc>
                <a:spcPts val="2025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Formula: </a:t>
            </a:r>
            <a:pPr algn="l" indent="0" marL="0">
              <a:lnSpc>
                <a:spcPts val="202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softmax(QKᵀ/√d</a:t>
            </a:r>
            <a:pPr algn="l" indent="0" marL="0">
              <a:lnSpc>
                <a:spcPts val="2025"/>
              </a:lnSpc>
              <a:spcAft>
                <a:spcPts val="450"/>
              </a:spcAft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202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)V</a:t>
            </a:r>
            <a:pPr algn="l" indent="0" marL="0">
              <a:lnSpc>
                <a:spcPts val="2025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Vaswani et al. (2017), Section 3.2.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09600" y="3657600"/>
            <a:ext cx="1329333" cy="238125"/>
          </a:xfrm>
          <a:prstGeom prst="roundRect">
            <a:avLst>
              <a:gd name="adj" fmla="val 24000"/>
            </a:avLst>
          </a:prstGeom>
          <a:solidFill>
            <a:srgbClr val="CFFAFE"/>
          </a:solidFill>
          <a:ln/>
        </p:spPr>
        <p:txBody>
          <a:bodyPr wrap="square" lIns="57150" tIns="19050" rIns="57150" bIns="1905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10755" y="3619500"/>
            <a:ext cx="1449586" cy="335012"/>
          </a:xfrm>
          <a:prstGeom prst="roundRect">
            <a:avLst>
              <a:gd name="adj" fmla="val 22745"/>
            </a:avLst>
          </a:prstGeom>
          <a:solidFill>
            <a:srgbClr val="E2E8F0"/>
          </a:solidFill>
          <a:ln/>
        </p:spPr>
        <p:txBody>
          <a:bodyPr wrap="square" lIns="76200" tIns="38100" rIns="76200" bIns="3810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softmax(QKᵀ/√d</a:t>
            </a:r>
            <a:pPr algn="l" indent="0" marL="0">
              <a:lnSpc>
                <a:spcPts val="1800"/>
              </a:lnSpc>
              <a:buNone/>
            </a:pPr>
            <a:r>
              <a:rPr lang="en-US" sz="1000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)V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9600" y="4011662"/>
            <a:ext cx="111922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rationale</a:t>
            </a:r>
            <a:pPr algn="l" indent="0" marL="0">
              <a:lnSpc>
                <a:spcPts val="2025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"Allows the model to jointly attend to information from different representation subspaces at different positions." — Vaswani et al. (2017), Section 3.2.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09600" y="4030712"/>
            <a:ext cx="1373832" cy="238125"/>
          </a:xfrm>
          <a:prstGeom prst="roundRect">
            <a:avLst>
              <a:gd name="adj" fmla="val 24000"/>
            </a:avLst>
          </a:prstGeom>
          <a:solidFill>
            <a:srgbClr val="CFFAFE"/>
          </a:solidFill>
          <a:ln/>
        </p:spPr>
        <p:txBody>
          <a:bodyPr wrap="square" lIns="57150" tIns="19050" rIns="57150" bIns="1905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rationale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5533132"/>
            <a:ext cx="11277600" cy="791468"/>
          </a:xfrm>
          <a:prstGeom prst="roundRect">
            <a:avLst>
              <a:gd name="adj" fmla="val 12035"/>
            </a:avLst>
          </a:prstGeom>
          <a:solidFill>
            <a:srgbClr val="ECFEFF"/>
          </a:solidFill>
          <a:ln w="9525">
            <a:solidFill>
              <a:srgbClr val="A5F3FC"/>
            </a:solidFill>
          </a:ln>
          <a:effectLst>
            <a:outerShdw sx="100000" sy="100000" kx="0" ky="0" algn="bl" rotWithShape="0" blurRad="57150" dist="1905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9125" y="5656957"/>
            <a:ext cx="11172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Attention = scores → weights → context; multi-head = parallel views that enrich representations.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19125" y="5914132"/>
            <a:ext cx="11172825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divide by √d</a:t>
            </a:r>
            <a:pPr algn="l" indent="0" marL="0">
              <a:lnSpc>
                <a:spcPts val="2025"/>
              </a:lnSpc>
              <a:buNone/>
            </a:pPr>
            <a:r>
              <a:rPr lang="en-US" sz="1125" baseline="-40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softmax?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1150315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Attention Is All You Need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57200" y="838200"/>
            <a:ext cx="12829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ladder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104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134" y="1162050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7250" y="1104900"/>
            <a:ext cx="6286500" cy="967680"/>
          </a:xfrm>
          <a:prstGeom prst="roundRect">
            <a:avLst>
              <a:gd name="adj" fmla="val 9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1075" y="1209675"/>
            <a:ext cx="615962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→ Recurrent/convolutional models limit parallelism and struggle with long-range dependencies.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Motivation for a new sequence transduction approach.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1075" y="1762125"/>
            <a:ext cx="615962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for a new sequence transduction approach.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0593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134" y="2263080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7250" y="2205930"/>
            <a:ext cx="6286500" cy="967680"/>
          </a:xfrm>
          <a:prstGeom prst="roundRect">
            <a:avLst>
              <a:gd name="adj" fmla="val 9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1075" y="2310705"/>
            <a:ext cx="615962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 → Use self-attention to let each token focus on the tokens that matter.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Removes recurrence and convolution; enables full-sequence parallelism.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1075" y="2863155"/>
            <a:ext cx="615962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recurrence and convolution; enables full-sequence parallelism.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30696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8134" y="3364111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7250" y="3306961"/>
            <a:ext cx="6286500" cy="967680"/>
          </a:xfrm>
          <a:prstGeom prst="roundRect">
            <a:avLst>
              <a:gd name="adj" fmla="val 9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81075" y="3411736"/>
            <a:ext cx="615962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→ Encoder–decoder with multi-head attention and positional encoding.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Heads attend to different subspaces; positions are injected to retain order.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1075" y="3964186"/>
            <a:ext cx="615962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 attend to different subspaces; positions are injected to retain order.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0799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134" y="4465141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7250" y="4407991"/>
            <a:ext cx="6286500" cy="967680"/>
          </a:xfrm>
          <a:prstGeom prst="roundRect">
            <a:avLst>
              <a:gd name="adj" fmla="val 9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81075" y="4512766"/>
            <a:ext cx="615962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→ Strong machine translation results on WMT14 EN–DE and EN–FR.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Source-backed improvements with faster training due to parallelism.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1075" y="5065216"/>
            <a:ext cx="615962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Source-backed improvements with faster training due to parallelism.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50902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134" y="5566172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7250" y="5509022"/>
            <a:ext cx="5828109" cy="710505"/>
          </a:xfrm>
          <a:prstGeom prst="roundRect">
            <a:avLst>
              <a:gd name="adj" fmla="val 134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81075" y="5613797"/>
            <a:ext cx="5692069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→ Simpler, faster training and better long-range reasoning.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Attention became the foundation for modern sequence models.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1075" y="5909072"/>
            <a:ext cx="569206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became the foundation for modern sequence models.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34300" y="1104900"/>
            <a:ext cx="4000500" cy="1583531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96225" y="1247775"/>
            <a:ext cx="3750183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3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synthesis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896225" y="1585913"/>
            <a:ext cx="3750183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Transformer replaces recurrence with attention, scaling training through parallelism while preserving context via multi-head, positionalized attention.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734300" y="2840831"/>
            <a:ext cx="4000500" cy="2234803"/>
          </a:xfrm>
          <a:prstGeom prst="roundRect">
            <a:avLst>
              <a:gd name="adj" fmla="val 51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96225" y="2983706"/>
            <a:ext cx="3750183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3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(from the paper)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067675" y="3321844"/>
            <a:ext cx="3505200" cy="1553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the scaled dot-product attention formula and intuition.</a:t>
            </a:r>
            <a:endParaRPr lang="en-US" sz="1350" dirty="0"/>
          </a:p>
          <a:p>
            <a:pPr algn="l" marL="342900" indent="-34290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one encoder layer: MH-Attention → Add&amp;Norm → FFN → Add&amp;Norm.</a:t>
            </a:r>
            <a:endParaRPr lang="en-US" sz="1350" dirty="0"/>
          </a:p>
          <a:p>
            <a:pPr algn="l" marL="342900" indent="-34290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Base vs. Big settings and training setup details.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5429250"/>
            <a:ext cx="2433489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1975" y="5572125"/>
            <a:ext cx="2268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7200" y="5981700"/>
            <a:ext cx="11503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removing recurrence enable faster training, and how do positional encodings compensate for the loss of order?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2026-05-24T14:34:36Z</dcterms:created>
  <dcterms:modified xsi:type="dcterms:W3CDTF">2026-05-24T14:34:36Z</dcterms:modified>
</cp:coreProperties>
</file>