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6700"/>
            <a:ext cx="1288852" cy="323850"/>
          </a:xfrm>
          <a:prstGeom prst="roundRect">
            <a:avLst>
              <a:gd name="adj" fmla="val 17647"/>
            </a:avLst>
          </a:prstGeom>
          <a:solidFill>
            <a:srgbClr val="A8C3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150" y="342900"/>
            <a:ext cx="10425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85800"/>
            <a:ext cx="1088136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spcAft>
                <a:spcPts val="450"/>
              </a:spcAft>
              <a:buNone/>
            </a:pPr>
            <a:r>
              <a:rPr lang="en-US" sz="25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Target: Why and How the Transformer Works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62000" y="1131540"/>
            <a:ext cx="108813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orient this seminar around the core claim: sequence transduction without recurrence or convolution, powered by attention-only computation.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1619250"/>
            <a:ext cx="514350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81075" y="1819275"/>
            <a:ext cx="479945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1075" y="2192536"/>
            <a:ext cx="4799457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end, you should understand how attention enables highly parallel training and short information paths, and how each component—multi-head attention, positional encoding, and the encoder–decoder stack—contributes to translation quality.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86500" y="1619250"/>
            <a:ext cx="514350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05575" y="1819275"/>
            <a:ext cx="479945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96075" y="2192536"/>
            <a:ext cx="4514850" cy="288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75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pPr algn="l" indent="0" marL="0">
              <a:lnSpc>
                <a:spcPts val="2175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motivation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encoder–decoder, multi-head attention, positional encoding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 attention formula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 (datasets, regularization, optimization)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BLEU and speed comparisons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and scope notes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and takeaways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5806678"/>
            <a:ext cx="1088136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takeaway: Attention-only architecture promises efficient parallelism and strong translation performance—we will build intuition, mechanisms, and evidence step by step.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6700"/>
            <a:ext cx="1194346" cy="304800"/>
          </a:xfrm>
          <a:prstGeom prst="roundRect">
            <a:avLst>
              <a:gd name="adj" fmla="val 18750"/>
            </a:avLst>
          </a:prstGeom>
          <a:solidFill>
            <a:srgbClr val="A8C3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150" y="342900"/>
            <a:ext cx="9461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762000" y="685800"/>
            <a:ext cx="10881360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spcAft>
                <a:spcPts val="450"/>
              </a:spcAft>
              <a:buNone/>
            </a:pPr>
            <a:r>
              <a:rPr lang="en-US" sz="216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Self-Attention: The Transformer’s Core Mechanism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762000" y="1072009"/>
            <a:ext cx="108813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interactions are computed in parallel instead of step-by-step recurrence, shortening information paths and enabling efficient training.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2000" y="1524000"/>
            <a:ext cx="5181600" cy="4779615"/>
          </a:xfrm>
          <a:prstGeom prst="roundRect">
            <a:avLst>
              <a:gd name="adj" fmla="val 1993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5825" y="1647825"/>
            <a:ext cx="763637" cy="247650"/>
          </a:xfrm>
          <a:prstGeom prst="roundRect">
            <a:avLst>
              <a:gd name="adj" fmla="val 23077"/>
            </a:avLst>
          </a:prstGeom>
          <a:solidFill>
            <a:srgbClr val="A8C3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81075" y="1704975"/>
            <a:ext cx="584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5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</a:t>
            </a:r>
            <a:endParaRPr lang="en-US" sz="945" dirty="0"/>
          </a:p>
        </p:txBody>
      </p:sp>
      <p:pic>
        <p:nvPicPr>
          <p:cNvPr id="9" name="Image 0" descr="/tmp/html2pptx-6jagax/html2pptx-bg-1779718055329-8daf0b886f88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1647825"/>
            <a:ext cx="4933950" cy="453196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48400" y="1524000"/>
            <a:ext cx="5181600" cy="1570286"/>
          </a:xfrm>
          <a:prstGeom prst="roundRect">
            <a:avLst>
              <a:gd name="adj" fmla="val 6066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29375" y="1685925"/>
            <a:ext cx="4916043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1"/>
              </a:lnSpc>
              <a:spcAft>
                <a:spcPts val="450"/>
              </a:spcAft>
              <a:buNone/>
            </a:pPr>
            <a:r>
              <a:rPr lang="en-US" sz="1485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931"/>
              </a:lnSpc>
              <a:spcAft>
                <a:spcPts val="450"/>
              </a:spcAft>
              <a:buNone/>
            </a:pPr>
            <a:r>
              <a:rPr lang="en-US" sz="148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Q, K, V and Attention Weights</a:t>
            </a:r>
            <a:endParaRPr lang="en-US" sz="1485" dirty="0"/>
          </a:p>
        </p:txBody>
      </p:sp>
      <p:sp>
        <p:nvSpPr>
          <p:cNvPr id="12" name="Text 9"/>
          <p:cNvSpPr/>
          <p:nvPr/>
        </p:nvSpPr>
        <p:spPr>
          <a:xfrm>
            <a:off x="6429375" y="1988195"/>
            <a:ext cx="4916043" cy="94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83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produces queries, keys, and values from its embedding. Pairwise relevance is scored via softmax(QKᵀ/√dₖ), and weighted values sum to a context vector that captures dependencies across the entire sequence.</a:t>
            </a:r>
            <a:endParaRPr lang="en-US" sz="1283" dirty="0"/>
          </a:p>
        </p:txBody>
      </p:sp>
      <p:sp>
        <p:nvSpPr>
          <p:cNvPr id="13" name="Text 10"/>
          <p:cNvSpPr/>
          <p:nvPr/>
        </p:nvSpPr>
        <p:spPr>
          <a:xfrm>
            <a:off x="6248400" y="3246686"/>
            <a:ext cx="5181600" cy="1570286"/>
          </a:xfrm>
          <a:prstGeom prst="roundRect">
            <a:avLst>
              <a:gd name="adj" fmla="val 6066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429375" y="3408611"/>
            <a:ext cx="4916043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1"/>
              </a:lnSpc>
              <a:spcAft>
                <a:spcPts val="450"/>
              </a:spcAft>
              <a:buNone/>
            </a:pPr>
            <a:r>
              <a:rPr lang="en-US" sz="1485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931"/>
              </a:lnSpc>
              <a:spcAft>
                <a:spcPts val="450"/>
              </a:spcAft>
              <a:buNone/>
            </a:pPr>
            <a:r>
              <a:rPr lang="en-US" sz="148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Diversity</a:t>
            </a:r>
            <a:endParaRPr lang="en-US" sz="1485" dirty="0"/>
          </a:p>
        </p:txBody>
      </p:sp>
      <p:sp>
        <p:nvSpPr>
          <p:cNvPr id="15" name="Text 12"/>
          <p:cNvSpPr/>
          <p:nvPr/>
        </p:nvSpPr>
        <p:spPr>
          <a:xfrm>
            <a:off x="6429375" y="3710880"/>
            <a:ext cx="4916043" cy="94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83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heads attend to different representation subspaces in parallel. Their outputs are concatenated and projected, enabling the model to capture varied relations (e.g., positional and syntactic cues) simultaneously.</a:t>
            </a:r>
            <a:endParaRPr lang="en-US" sz="1283" dirty="0"/>
          </a:p>
        </p:txBody>
      </p:sp>
      <p:sp>
        <p:nvSpPr>
          <p:cNvPr id="16" name="Text 13"/>
          <p:cNvSpPr/>
          <p:nvPr/>
        </p:nvSpPr>
        <p:spPr>
          <a:xfrm>
            <a:off x="6248400" y="4969371"/>
            <a:ext cx="5181600" cy="1334244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429375" y="5131296"/>
            <a:ext cx="4916043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1"/>
              </a:lnSpc>
              <a:spcAft>
                <a:spcPts val="450"/>
              </a:spcAft>
              <a:buNone/>
            </a:pPr>
            <a:r>
              <a:rPr lang="en-US" sz="1485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931"/>
              </a:lnSpc>
              <a:spcAft>
                <a:spcPts val="450"/>
              </a:spcAft>
              <a:buNone/>
            </a:pPr>
            <a:r>
              <a:rPr lang="en-US" sz="148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and Order</a:t>
            </a:r>
            <a:endParaRPr lang="en-US" sz="1485" dirty="0"/>
          </a:p>
        </p:txBody>
      </p:sp>
      <p:sp>
        <p:nvSpPr>
          <p:cNvPr id="18" name="Text 15"/>
          <p:cNvSpPr/>
          <p:nvPr/>
        </p:nvSpPr>
        <p:spPr>
          <a:xfrm>
            <a:off x="6429375" y="5433566"/>
            <a:ext cx="4916043" cy="70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83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 and LayerNorm wrap both attention and position-wise feed-forward sublayers, while positional encodings inject order information otherwise absent from attention.</a:t>
            </a:r>
            <a:endParaRPr lang="en-US" sz="1283" dirty="0"/>
          </a:p>
        </p:txBody>
      </p:sp>
      <p:sp>
        <p:nvSpPr>
          <p:cNvPr id="19" name="Text 16"/>
          <p:cNvSpPr/>
          <p:nvPr/>
        </p:nvSpPr>
        <p:spPr>
          <a:xfrm>
            <a:off x="762000" y="6070550"/>
            <a:ext cx="10881360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21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takeaway: Self-attention builds direct token-to-token links in parallel, forming the backbone that replaces recurrence and accelerates training.</a:t>
            </a:r>
            <a:endParaRPr lang="en-US" sz="121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6700"/>
            <a:ext cx="1119039" cy="323850"/>
          </a:xfrm>
          <a:prstGeom prst="roundRect">
            <a:avLst>
              <a:gd name="adj" fmla="val 17647"/>
            </a:avLst>
          </a:prstGeom>
          <a:solidFill>
            <a:srgbClr val="A8C3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150" y="342900"/>
            <a:ext cx="8693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85800"/>
            <a:ext cx="1088136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Scaled Dot-Product Attention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1108621"/>
            <a:ext cx="10881360" cy="30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query q</a:t>
            </a:r>
            <a:pPr algn="l" indent="0" marL="0">
              <a:lnSpc>
                <a:spcPts val="2100"/>
              </a:lnSpc>
              <a:buNone/>
            </a:pPr>
            <a:r>
              <a:rPr lang="en-US" sz="1250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attention weights and the context vector z</a:t>
            </a:r>
            <a:pPr algn="l" indent="0" marL="0">
              <a:lnSpc>
                <a:spcPts val="2100"/>
              </a:lnSpc>
              <a:buNone/>
            </a:pPr>
            <a:r>
              <a:rPr lang="en-US" sz="1250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illustrating the compute steps the Transformer uses in parallel.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1524000"/>
            <a:ext cx="4559796" cy="416718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2975" y="1685925"/>
            <a:ext cx="4281803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formula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42975" y="2918966"/>
            <a:ext cx="4281803" cy="787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6"/>
              </a:lnSpc>
              <a:spcAft>
                <a:spcPts val="600"/>
              </a:spcAft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 and LayerNorm wrap both attention and position-wise feed-forward sublayers; positional encodings inject order.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626596" y="1524000"/>
            <a:ext cx="5803404" cy="1699022"/>
          </a:xfrm>
          <a:prstGeom prst="roundRect">
            <a:avLst>
              <a:gd name="adj" fmla="val 5606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50421" y="1647825"/>
          <a:ext cx="9144000" cy="914400"/>
        </p:xfrm>
        <a:graphic>
          <a:graphicData uri="http://schemas.openxmlformats.org/drawingml/2006/table">
            <a:tbl>
              <a:tblPr/>
              <a:tblGrid>
                <a:gridCol w="3521507"/>
                <a:gridCol w="678033"/>
                <a:gridCol w="678033"/>
                <a:gridCol w="678182"/>
              </a:tblGrid>
              <a:tr h="4837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pPr algn="ctr" indent="0" marL="0">
                        <a:buNone/>
                      </a:pPr>
                      <a:r>
                        <a:rPr lang="en-US" sz="1125" b="1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pPr algn="ctr" indent="0" marL="0">
                        <a:buNone/>
                      </a:pPr>
                      <a:r>
                        <a:rPr lang="en-US" sz="1125" b="1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pPr algn="ctr" indent="0" marL="0">
                        <a:buNone/>
                      </a:pPr>
                      <a:r>
                        <a:rPr lang="en-US" sz="1125" b="1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0"/>
                    </a:solidFill>
                  </a:tcPr>
                </a:tc>
              </a:tr>
              <a:tr h="4837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scaled score s</a:t>
                      </a:r>
                      <a:pPr algn="ctr" indent="0" marL="0">
                        <a:buNone/>
                      </a:pPr>
                      <a:r>
                        <a:rPr lang="en-US" sz="1125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pPr algn="ctr" indent="0" marL="0">
                        <a:buNone/>
                      </a:pPr>
                      <a:r>
                        <a:rPr lang="en-US" sz="1125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pPr algn="ctr" indent="0" marL="0">
                        <a:buNone/>
                      </a:pPr>
                      <a:r>
                        <a:rPr lang="en-US" sz="1125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pPr algn="ctr" indent="0" marL="0">
                        <a:buNone/>
                      </a:pPr>
                      <a:r>
                        <a:rPr lang="en-US" sz="1125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837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 α</a:t>
                      </a:r>
                      <a:pPr algn="ctr" indent="0" marL="0">
                        <a:buNone/>
                      </a:pPr>
                      <a:r>
                        <a:rPr lang="en-US" sz="1125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=softmax(s</a:t>
                      </a:r>
                      <a:pPr algn="ctr" indent="0" marL="0">
                        <a:buNone/>
                      </a:pPr>
                      <a:r>
                        <a:rPr lang="en-US" sz="1125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α</a:t>
                      </a:r>
                      <a:pPr algn="ctr" indent="0" marL="0">
                        <a:buNone/>
                      </a:pPr>
                      <a:r>
                        <a:rPr lang="en-US" sz="1125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α</a:t>
                      </a:r>
                      <a:pPr algn="ctr" indent="0" marL="0">
                        <a:buNone/>
                      </a:pPr>
                      <a:r>
                        <a:rPr lang="en-US" sz="1125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α</a:t>
                      </a:r>
                      <a:pPr algn="ctr" indent="0" marL="0">
                        <a:buNone/>
                      </a:pPr>
                      <a:r>
                        <a:rPr lang="en-US" sz="1125" baseline="-4000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626596" y="3356372"/>
            <a:ext cx="2844552" cy="1013222"/>
          </a:xfrm>
          <a:prstGeom prst="roundRect">
            <a:avLst>
              <a:gd name="adj" fmla="val 9401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69471" y="3480197"/>
            <a:ext cx="2609978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embeddings to Q, K, V using learned linear maps; split into multiple heads.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585448" y="3356372"/>
            <a:ext cx="2844552" cy="1013222"/>
          </a:xfrm>
          <a:prstGeom prst="roundRect">
            <a:avLst>
              <a:gd name="adj" fmla="val 9401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728323" y="3480197"/>
            <a:ext cx="2609978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scaled dot products q</a:t>
            </a:r>
            <a:pPr algn="l" indent="0" marL="0">
              <a:lnSpc>
                <a:spcPts val="1890"/>
              </a:lnSpc>
              <a:buNone/>
            </a:pPr>
            <a:r>
              <a:rPr lang="en-US" sz="1125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·k</a:t>
            </a:r>
            <a:pPr algn="l" indent="0" marL="0">
              <a:lnSpc>
                <a:spcPts val="1890"/>
              </a:lnSpc>
              <a:buNone/>
            </a:pPr>
            <a:r>
              <a:rPr lang="en-US" sz="1125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/√d</a:t>
            </a:r>
            <a:pPr algn="l" indent="0" marL="0">
              <a:lnSpc>
                <a:spcPts val="1890"/>
              </a:lnSpc>
              <a:buNone/>
            </a:pPr>
            <a:r>
              <a:rPr lang="en-US" sz="1125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apply softmax to obtain weights α</a:t>
            </a:r>
            <a:pPr algn="l" indent="0" marL="0">
              <a:lnSpc>
                <a:spcPts val="1890"/>
              </a:lnSpc>
              <a:buNone/>
            </a:pPr>
            <a:r>
              <a:rPr lang="en-US" sz="1125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626596" y="4483894"/>
            <a:ext cx="2844552" cy="1207294"/>
          </a:xfrm>
          <a:prstGeom prst="roundRect">
            <a:avLst>
              <a:gd name="adj" fmla="val 7890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769471" y="4607719"/>
            <a:ext cx="2609978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the context z</a:t>
            </a:r>
            <a:pPr algn="l" indent="0" marL="0">
              <a:lnSpc>
                <a:spcPts val="1890"/>
              </a:lnSpc>
              <a:buNone/>
            </a:pPr>
            <a:r>
              <a:rPr lang="en-US" sz="1125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=∑</a:t>
            </a:r>
            <a:pPr algn="l" indent="0" marL="0">
              <a:lnSpc>
                <a:spcPts val="1890"/>
              </a:lnSpc>
              <a:buNone/>
            </a:pPr>
            <a:r>
              <a:rPr lang="en-US" sz="1125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α</a:t>
            </a:r>
            <a:pPr algn="l" indent="0" marL="0">
              <a:lnSpc>
                <a:spcPts val="1890"/>
              </a:lnSpc>
              <a:buNone/>
            </a:pPr>
            <a:r>
              <a:rPr lang="en-US" sz="1125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lnSpc>
                <a:spcPts val="1890"/>
              </a:lnSpc>
              <a:buNone/>
            </a:pPr>
            <a:r>
              <a:rPr lang="en-US" sz="1125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concatenate heads and project.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585448" y="4483894"/>
            <a:ext cx="2844552" cy="1207294"/>
          </a:xfrm>
          <a:prstGeom prst="roundRect">
            <a:avLst>
              <a:gd name="adj" fmla="val 7890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728323" y="4607719"/>
            <a:ext cx="2609978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residual + LayerNorm and feed-forward to integrate; masking enforces autoregressive decoding when needed.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62000" y="5806678"/>
            <a:ext cx="1088136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takeaway: Attention weights α highlight relevant tokens per query, producing z that captures long-range dependencies without recurrence.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6700"/>
            <a:ext cx="1288852" cy="323850"/>
          </a:xfrm>
          <a:prstGeom prst="roundRect">
            <a:avLst>
              <a:gd name="adj" fmla="val 17647"/>
            </a:avLst>
          </a:prstGeom>
          <a:solidFill>
            <a:srgbClr val="A8C3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150" y="342900"/>
            <a:ext cx="10425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85800"/>
            <a:ext cx="1088136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Definitions for the Transformer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1108621"/>
            <a:ext cx="10881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core terms before diving deeper into encoder–decoder flow and self-attention mechanics.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1524000"/>
            <a:ext cx="3985766" cy="4000500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2975" y="1685925"/>
            <a:ext cx="3696292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42975" y="2034480"/>
            <a:ext cx="3696292" cy="1242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Attention-only</a:t>
            </a:r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sequence transduction: dispense with recurrence and convolution. Use multi-head self-attention, position-wise feed-forward networks, residual connections, and positional encodings for order.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42975" y="3353395"/>
            <a:ext cx="3696292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computation shortens paths between any two positions.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52566" y="1524000"/>
            <a:ext cx="6377434" cy="40005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A8C3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33541" y="1685925"/>
            <a:ext cx="6135794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233541" y="2034480"/>
            <a:ext cx="6015484" cy="238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(Q):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vector asking “what is relevant now”.</a:t>
            </a:r>
            <a:endParaRPr lang="en-US" sz="1350" dirty="0"/>
          </a:p>
          <a:p>
            <a:pPr algn="l" marL="171450" indent="-171450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(K):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vector describing tokens to be matched by queries.</a:t>
            </a:r>
            <a:endParaRPr lang="en-US" sz="1350" dirty="0"/>
          </a:p>
          <a:p>
            <a:pPr algn="l" marL="171450" indent="-171450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(V):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content mixed using attention weights.</a:t>
            </a:r>
            <a:endParaRPr lang="en-US" sz="1350" dirty="0"/>
          </a:p>
          <a:p>
            <a:pPr algn="l" marL="171450" indent="-171450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 attention: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softmax(QK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000" baseline="3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/√d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000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)V.</a:t>
            </a:r>
            <a:endParaRPr lang="en-US" sz="1350" dirty="0"/>
          </a:p>
          <a:p>
            <a:pPr algn="l" marL="171450" indent="-171450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Multi-head: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low-d projections capture diverse relations.</a:t>
            </a:r>
            <a:endParaRPr lang="en-US" sz="1350" dirty="0"/>
          </a:p>
          <a:p>
            <a:pPr algn="l" marL="171450" indent="-171450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encoding: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inject order via fixed sinusoids.</a:t>
            </a:r>
            <a:endParaRPr lang="en-US" sz="1350" dirty="0"/>
          </a:p>
          <a:p>
            <a:pPr algn="l" marL="171450" indent="-171450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+ LayerNorm: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stabilize and ease optimization.</a:t>
            </a:r>
            <a:endParaRPr lang="en-US" sz="1350" dirty="0"/>
          </a:p>
          <a:p>
            <a:pPr algn="l" marL="171450" indent="-171450">
              <a:lnSpc>
                <a:spcPts val="1890"/>
              </a:lnSpc>
              <a:spcAft>
                <a:spcPts val="450"/>
              </a:spcAft>
              <a:buSzPct val="100000"/>
              <a:buChar char="•"/>
            </a:pPr>
            <a:r>
              <a:rPr lang="en-US" sz="12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Feed-forward:</a:t>
            </a:r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position-wise two-layer MLP.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62000" y="5806678"/>
            <a:ext cx="1088136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takeaway: With Q/K/V, scaling, multi-head, position encodings, and residual+FFN, we can reason about self-attention and encoder–decoder interactions.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700"/>
            <a:ext cx="981075" cy="247650"/>
          </a:xfrm>
          <a:prstGeom prst="roundRect">
            <a:avLst>
              <a:gd name="adj" fmla="val 23077"/>
            </a:avLst>
          </a:prstGeom>
          <a:solidFill>
            <a:srgbClr val="A8C3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323850"/>
            <a:ext cx="8063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66750"/>
            <a:ext cx="1150315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Walkthrough: Scaled Dot‑Product &amp; Multi‑Head Attention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04900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12B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steps from Q/K/V formation to residual + layer normalization (Vaswani et al., 2017).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562100"/>
            <a:ext cx="2163961" cy="36195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0075" y="1704975"/>
            <a:ext cx="266700" cy="266700"/>
          </a:xfrm>
          <a:prstGeom prst="roundRect">
            <a:avLst>
              <a:gd name="adj" fmla="val 3567857"/>
            </a:avLst>
          </a:prstGeom>
          <a:solidFill>
            <a:srgbClr val="6E9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7408" y="1704975"/>
            <a:ext cx="272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0075" y="2047875"/>
            <a:ext cx="1915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inputs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0075" y="2324100"/>
            <a:ext cx="191577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tokens to queries Q, keys K, values V with learned linear layers per head.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735461" y="1562100"/>
            <a:ext cx="2164110" cy="36195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78336" y="1704975"/>
            <a:ext cx="266700" cy="266700"/>
          </a:xfrm>
          <a:prstGeom prst="roundRect">
            <a:avLst>
              <a:gd name="adj" fmla="val 3567857"/>
            </a:avLst>
          </a:prstGeom>
          <a:solidFill>
            <a:srgbClr val="6E9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75669" y="1704975"/>
            <a:ext cx="272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78336" y="2047875"/>
            <a:ext cx="19159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78336" y="2324100"/>
            <a:ext cx="1915927" cy="959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attention scores as QKᵀ / √d</a:t>
            </a:r>
            <a:pPr algn="l" indent="0" marL="0">
              <a:lnSpc>
                <a:spcPts val="1823"/>
              </a:lnSpc>
              <a:buNone/>
            </a:pPr>
            <a:r>
              <a:rPr lang="en-US" sz="1125" baseline="-400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stabilize gradients and scale with dimension.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13871" y="1562100"/>
            <a:ext cx="2164110" cy="36195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56746" y="1704975"/>
            <a:ext cx="266700" cy="266700"/>
          </a:xfrm>
          <a:prstGeom prst="roundRect">
            <a:avLst>
              <a:gd name="adj" fmla="val 3567857"/>
            </a:avLst>
          </a:prstGeom>
          <a:solidFill>
            <a:srgbClr val="6E9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54079" y="1704975"/>
            <a:ext cx="272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56746" y="2047875"/>
            <a:ext cx="19159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56746" y="2324100"/>
            <a:ext cx="191592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softmax over positions to obtain weights that highlight relevant tokens.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292280" y="1562100"/>
            <a:ext cx="2164110" cy="36195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35155" y="1704975"/>
            <a:ext cx="266700" cy="266700"/>
          </a:xfrm>
          <a:prstGeom prst="roundRect">
            <a:avLst>
              <a:gd name="adj" fmla="val 3567857"/>
            </a:avLst>
          </a:prstGeom>
          <a:solidFill>
            <a:srgbClr val="6E9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32488" y="1704975"/>
            <a:ext cx="272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35155" y="2047875"/>
            <a:ext cx="19159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35155" y="2324100"/>
            <a:ext cx="1915927" cy="115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context as the weighted sum of V for each head, position‑wise and in parallel.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570690" y="1562100"/>
            <a:ext cx="2163961" cy="36195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713565" y="1704975"/>
            <a:ext cx="266700" cy="266700"/>
          </a:xfrm>
          <a:prstGeom prst="roundRect">
            <a:avLst>
              <a:gd name="adj" fmla="val 3567857"/>
            </a:avLst>
          </a:prstGeom>
          <a:solidFill>
            <a:srgbClr val="6E9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710898" y="1704975"/>
            <a:ext cx="2720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13565" y="2047875"/>
            <a:ext cx="1915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713565" y="2324100"/>
            <a:ext cx="191577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 heads, project, then apply residual connection and layer normalization.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5695950"/>
            <a:ext cx="11277600" cy="552450"/>
          </a:xfrm>
          <a:prstGeom prst="rect">
            <a:avLst/>
          </a:prstGeom>
          <a:solidFill>
            <a:srgbClr val="F7F8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76250" y="5772150"/>
            <a:ext cx="0" cy="400050"/>
          </a:xfrm>
          <a:prstGeom prst="line">
            <a:avLst/>
          </a:prstGeom>
          <a:noFill/>
          <a:ln w="38100">
            <a:solidFill>
              <a:srgbClr val="6E92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600" y="5772150"/>
            <a:ext cx="1123111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Attention shortens information paths and is fully parallelizable across positions, enabling efficient training and stronger long‑range modeling.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700"/>
            <a:ext cx="922734" cy="247650"/>
          </a:xfrm>
          <a:prstGeom prst="roundRect">
            <a:avLst>
              <a:gd name="adj" fmla="val 23077"/>
            </a:avLst>
          </a:prstGeom>
          <a:solidFill>
            <a:srgbClr val="A8C3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323850"/>
            <a:ext cx="746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66750"/>
            <a:ext cx="1150315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Conditions and Common Confusions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04900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12B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holds and what doesn’t for the Transformer as defined in “Attention Is All You Need”.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562100"/>
            <a:ext cx="11277600" cy="4248150"/>
          </a:xfrm>
          <a:prstGeom prst="roundRect">
            <a:avLst>
              <a:gd name="adj" fmla="val 1794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25" y="1685925"/>
          <a:ext cx="9144000" cy="914400"/>
        </p:xfrm>
        <a:graphic>
          <a:graphicData uri="http://schemas.openxmlformats.org/drawingml/2006/table">
            <a:tbl>
              <a:tblPr/>
              <a:tblGrid>
                <a:gridCol w="3122747"/>
                <a:gridCol w="3953452"/>
                <a:gridCol w="3953750"/>
              </a:tblGrid>
              <a:tr h="3714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Misconception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250" marR="114300" marT="95250" marB="95250" anchor="t">
                    <a:lnL w="38100" cap="flat" cmpd="sng" algn="ctr">
                      <a:solidFill>
                        <a:srgbClr val="9B6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631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Clarification (paper)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631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Boundary / Scope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631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24688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“Attention removes order.”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250" marR="114300" marT="95250" marB="95250" anchor="t">
                    <a:lnL w="38100" cap="flat" cmpd="sng" algn="ctr">
                      <a:solidFill>
                        <a:srgbClr val="9B6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is injected via sinusoidal positional encodings added to token embeddings.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Without positional signals, the model has no notion of sequence order; absolute PEs are used in the paper.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24212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“Inference is fully parallel.”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250" marR="114300" marT="95250" marB="95250" anchor="t">
                    <a:lnL w="38100" cap="flat" cmpd="sng" algn="ctr">
                      <a:solidFill>
                        <a:srgbClr val="9B6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1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is position‑wise parallel, but decoding remains autoregressive with masked self‑attention.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1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Generation proceeds step‑by‑step; latency scales with output length despite parallelizable training.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1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23735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“Self‑attention is always cheaper.”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5250" marR="114300" marT="95250" marB="95250" anchor="t">
                    <a:lnL w="38100" cap="flat" cmpd="sng" algn="ctr">
                      <a:solidFill>
                        <a:srgbClr val="9B6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1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Per‑layer complexity is O(n²d) in sequence length n (vs. recurrent O(nd²)).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1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263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Quadratic cost and memory can dominate at very long n; advantages are strongest at moderate n and with parallel hardware.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1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6250" y="5772150"/>
            <a:ext cx="0" cy="400050"/>
          </a:xfrm>
          <a:prstGeom prst="line">
            <a:avLst/>
          </a:prstGeom>
          <a:noFill/>
          <a:ln w="38100">
            <a:solidFill>
              <a:srgbClr val="9B6A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9600" y="5772150"/>
            <a:ext cx="1123111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Recognize the paper’s scope—parallelizable training, autoregressive decoding, and O(n²) self‑attention shape practical limits and deployment choices.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700"/>
            <a:ext cx="981075" cy="247650"/>
          </a:xfrm>
          <a:prstGeom prst="roundRect">
            <a:avLst>
              <a:gd name="adj" fmla="val 23077"/>
            </a:avLst>
          </a:prstGeom>
          <a:solidFill>
            <a:srgbClr val="A8C3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323850"/>
            <a:ext cx="8063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66750"/>
            <a:ext cx="1150315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and Regularization in Transformer Training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04900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12B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paper drives attention‑only models to converge and generalize.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1581150"/>
            <a:ext cx="10515600" cy="1076325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9175" y="1724025"/>
            <a:ext cx="103567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Learning‑Rate Schedule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19175" y="2047875"/>
            <a:ext cx="1035672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63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lrate = d_model^{-0.5} · min(step^{-0.5}, step · warmup^{-1.5})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9175" y="2305050"/>
            <a:ext cx="103567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6312B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 Adam (β1 = 0.9, β2 = 0.98, ε = 1e−9); warmup ≈ 4000 steps.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57500"/>
            <a:ext cx="3657600" cy="1551384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0075" y="2981325"/>
            <a:ext cx="34392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Warmup and Decay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0075" y="3238500"/>
            <a:ext cx="3371850" cy="989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836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linear warmup accelerates training before switching to step^{-0.5} decay.</a:t>
            </a:r>
            <a:endParaRPr lang="en-US" sz="1350" dirty="0"/>
          </a:p>
          <a:p>
            <a:pPr algn="l" marL="171450" indent="-171450">
              <a:lnSpc>
                <a:spcPts val="1836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scale d_model^{-0.5} normalizes updates across model sizes.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67200" y="2857500"/>
            <a:ext cx="3657600" cy="1551384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10075" y="2981325"/>
            <a:ext cx="34392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Regularization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10075" y="3238500"/>
            <a:ext cx="3371850" cy="989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836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p = 0.1 on sub‑layer outputs and attention weights.</a:t>
            </a:r>
            <a:endParaRPr lang="en-US" sz="1350" dirty="0"/>
          </a:p>
          <a:p>
            <a:pPr algn="l" marL="171450" indent="-171450">
              <a:lnSpc>
                <a:spcPts val="1836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smoothing ε_ls = 0.1 combats over‑confidence and improves BLEU.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77200" y="2857500"/>
            <a:ext cx="3657600" cy="1551384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0075" y="2981325"/>
            <a:ext cx="34392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Stabilizers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0075" y="3238500"/>
            <a:ext cx="3371850" cy="989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836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 + LayerNorm around each sub‑layer aid gradient flow.</a:t>
            </a:r>
            <a:endParaRPr lang="en-US" sz="1350" dirty="0"/>
          </a:p>
          <a:p>
            <a:pPr algn="l" marL="171450" indent="-171450">
              <a:lnSpc>
                <a:spcPts val="1836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Position‑wise FFN supplies non‑linearity and capacity per position.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76250" y="5972175"/>
            <a:ext cx="0" cy="200025"/>
          </a:xfrm>
          <a:prstGeom prst="line">
            <a:avLst/>
          </a:prstGeom>
          <a:noFill/>
          <a:ln w="38100">
            <a:solidFill>
              <a:srgbClr val="6E92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5972175"/>
            <a:ext cx="112311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The warmup–decay schedule, Adam, dropout, and label smoothing are decisive for stability and strong translation performance.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700"/>
            <a:ext cx="638324" cy="247650"/>
          </a:xfrm>
          <a:prstGeom prst="roundRect">
            <a:avLst>
              <a:gd name="adj" fmla="val 23077"/>
            </a:avLst>
          </a:prstGeom>
          <a:solidFill>
            <a:srgbClr val="A8C3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323850"/>
            <a:ext cx="4567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66750"/>
            <a:ext cx="1150315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 about the Transformer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04900"/>
            <a:ext cx="11503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12B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Attention-only sequence transduction, parallel paths, and evidence-backed gains.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776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1025" y="17049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E9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1757363"/>
            <a:ext cx="97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0125" y="1704975"/>
            <a:ext cx="10823067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CLAIM:</a:t>
            </a:r>
            <a:pPr algn="l"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encoder–decoder that removes recurrence and convolution, using self-attention and cross-attention for sequence modeling.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2228850"/>
            <a:ext cx="11277600" cy="668834"/>
          </a:xfrm>
          <a:prstGeom prst="roundRect">
            <a:avLst>
              <a:gd name="adj" fmla="val 14241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1025" y="23336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E9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651" y="2386013"/>
            <a:ext cx="97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0125" y="2333625"/>
            <a:ext cx="10823067" cy="45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</a:t>
            </a:r>
            <a:pPr algn="l"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Multi-head scaled dot-product attention plus positional encoding enables parallel token interactions and short information paths.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3011984"/>
            <a:ext cx="112776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1025" y="311675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E9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651" y="3169146"/>
            <a:ext cx="97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0125" y="3116759"/>
            <a:ext cx="10823067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8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  <a:pPr algn="l"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machine translation results: WMT14 En→De BLEU 28.4 and En→Fr 41.8, with efficient training via high parallelism.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3640634"/>
            <a:ext cx="11277600" cy="668834"/>
          </a:xfrm>
          <a:prstGeom prst="roundRect">
            <a:avLst>
              <a:gd name="adj" fmla="val 14241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025" y="374540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E9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651" y="3797796"/>
            <a:ext cx="97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00125" y="3745409"/>
            <a:ext cx="10823067" cy="45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6E9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</a:t>
            </a:r>
            <a:pPr algn="l"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Residuals + LayerNorm, position-wise FFN, dropout and label smoothing, and Adam with warmup–decay scheduling stabilize learning.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4423767"/>
            <a:ext cx="112776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6312B"/>
            </a:solidFill>
          </a:ln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1025" y="452854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E9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651" y="4580930"/>
            <a:ext cx="97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00125" y="4528542"/>
            <a:ext cx="10823067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9"/>
              </a:lnSpc>
              <a:buNone/>
            </a:pPr>
            <a:r>
              <a:rPr lang="en-US" sz="1350" b="1" dirty="0">
                <a:solidFill>
                  <a:srgbClr val="9B6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</a:t>
            </a:r>
            <a:pPr algn="l"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Self-attention scales quadratically with sequence length; future work targets sparse/local/efficient patterns.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76250" y="5772150"/>
            <a:ext cx="0" cy="400050"/>
          </a:xfrm>
          <a:prstGeom prst="line">
            <a:avLst/>
          </a:prstGeom>
          <a:noFill/>
          <a:ln w="38100">
            <a:solidFill>
              <a:srgbClr val="6E92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600" y="5772150"/>
            <a:ext cx="1123111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Attention, when combined with the paper’s training recipe, is sufficient to reach state-of-the-art translation while enabling parallel computation.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2026-05-25T14:07:38Z</dcterms:created>
  <dcterms:modified xsi:type="dcterms:W3CDTF">2026-05-25T14:07:38Z</dcterms:modified>
</cp:coreProperties>
</file>